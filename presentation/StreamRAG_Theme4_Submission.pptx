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Theme 4: Streaming Live RAG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https://github.com/RockRK2405/StreamRAG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600"/>
              <a:t>Theme 4, Streaming Live RAG: answer a user from trusted documents while they are still speaking</a:t>
            </a:r>
            <a:endParaRPr/>
          </a:p>
          <a:p>
            <a:pPr/>
            <a:r>
              <a:rPr sz="1600"/>
              <a:t>Speech arrives as transcript chunks, with:</a:t>
            </a:r>
          </a:p>
          <a:p>
            <a:pPr lvl="1"/>
            <a:r>
              <a:rPr sz="1400"/>
              <a:t>several questions in one breath</a:t>
            </a:r>
          </a:p>
          <a:p>
            <a:pPr lvl="1"/>
            <a:r>
              <a:rPr sz="1400"/>
              <a:t>details that arrive late ("…for international students")</a:t>
            </a:r>
          </a:p>
          <a:p>
            <a:pPr lvl="1"/>
            <a:r>
              <a:rPr sz="1400"/>
              <a:t>corrections ("sorry, I mean…")</a:t>
            </a:r>
          </a:p>
          <a:p>
            <a:pPr/>
            <a:r>
              <a:rPr sz="1600"/>
              <a:t>Required: retrieve during speech, split the request into needs, and fuse the evidence into one grounded answer cited as Doc_ID §Section</a:t>
            </a:r>
          </a:p>
          <a:p>
            <a:pPr/>
            <a:r>
              <a:rPr sz="1600"/>
              <a:t>Refine that answer when new details arrive, without starting over</a:t>
            </a:r>
          </a:p>
          <a:p>
            <a:pPr/>
            <a:r>
              <a:rPr sz="1600"/>
              <a:t>The answers concern rules, fees and deadlines, so a wrong number is worse than no answer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600"/>
              <a:t>Conventional RAG</a:t>
            </a:r>
            <a:endParaRPr/>
          </a:p>
          <a:p>
            <a:pPr lvl="1"/>
            <a:r>
              <a:rPr sz="1400"/>
              <a:t>Waits for silence, sends one blurred query for a multi-part question, and restarts on every correction</a:t>
            </a:r>
          </a:p>
          <a:p>
            <a:pPr/>
            <a:r>
              <a:rPr sz="1600"/>
              <a:t>Adaptive RAG (FLARE, Self-RAG, Adaptive-RAG)</a:t>
            </a:r>
          </a:p>
          <a:p>
            <a:pPr lvl="1"/>
            <a:r>
              <a:rPr sz="1400"/>
              <a:t>Puts an LLM or a trained classifier in the retrieval decision, at hundreds of ms per decision</a:t>
            </a:r>
          </a:p>
          <a:p>
            <a:pPr lvl="1"/>
            <a:r>
              <a:rPr sz="1400"/>
              <a:t>Not designed for partial, changing transcripts</a:t>
            </a:r>
          </a:p>
          <a:p>
            <a:pPr/>
            <a:r>
              <a:rPr sz="1600"/>
              <a:t>Grounding / attribution checkers</a:t>
            </a:r>
          </a:p>
          <a:p>
            <a:pPr lvl="1"/>
            <a:r>
              <a:rPr sz="1400"/>
              <a:t>Check the final text after the fact, not the drafts streamed while the user speaks</a:t>
            </a:r>
          </a:p>
          <a:p>
            <a:pPr/>
            <a:r>
              <a:rPr sz="1600"/>
              <a:t>Conversational RAG</a:t>
            </a:r>
          </a:p>
          <a:p>
            <a:pPr lvl="1"/>
            <a:r>
              <a:rPr sz="1400"/>
              <a:t>Carries chat history, but has no per-need evidence lifecycle, which leads to stale reuse or a full restart</a:t>
            </a:r>
          </a:p>
          <a:p>
            <a:pPr/>
            <a:r>
              <a:rPr sz="1600"/>
              <a:t>Gap: no system keeps need-level, verified answer state over a live, changing transcript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825625"/>
            <a:ext cx="10515600" cy="2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500"/>
              <a:t>Retrieves while the user speaks: a rule-based retrieve / wait / skip decision on every chunk</a:t>
            </a:r>
            <a:endParaRPr/>
          </a:p>
          <a:p>
            <a:pPr/>
            <a:r>
              <a:rPr sz="1500"/>
              <a:t>Splits the request into needs; claim requirements per need drive adaptive retrieval (fast path, filtered, semantic, multi-hop), with no LLM in the loop</a:t>
            </a:r>
          </a:p>
          <a:p>
            <a:pPr/>
            <a:r>
              <a:rPr sz="1500"/>
              <a:t>Evidence lifecycle and delta retrieval: a correction re-retrieves only what changed, and obsolete work is cancelled</a:t>
            </a:r>
          </a:p>
          <a:p>
            <a:pPr/>
            <a:r>
              <a:rPr sz="1500"/>
              <a:t>Every streamed claim is verified (NLI) against its cited section; conflicts and superseded versions are labelled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38200" y="4330000"/>
            <a:ext cx="1183200" cy="76000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Live input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171400" y="4330000"/>
            <a:ext cx="1183200" cy="76000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Streaming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504600" y="4330000"/>
            <a:ext cx="1183200" cy="76000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Intent / needs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837800" y="4330000"/>
            <a:ext cx="1183200" cy="76000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Adaptive retrieval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171000" y="4330000"/>
            <a:ext cx="1183200" cy="76000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Evidence lifecycle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504200" y="4330000"/>
            <a:ext cx="1183200" cy="76000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Grounded generation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837400" y="4330000"/>
            <a:ext cx="1183200" cy="76000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Claim verification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170600" y="4330000"/>
            <a:ext cx="1183200" cy="76000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Streamed answer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2021400" y="4710000"/>
            <a:ext cx="150000" cy="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354600" y="4710000"/>
            <a:ext cx="150000" cy="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4687800" y="4710000"/>
            <a:ext cx="150000" cy="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6021000" y="4710000"/>
            <a:ext cx="150000" cy="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7354200" y="4710000"/>
            <a:ext cx="150000" cy="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687400" y="4710000"/>
            <a:ext cx="150000" cy="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0020600" y="4710000"/>
            <a:ext cx="150000" cy="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838200" y="5270000"/>
            <a:ext cx="10515600" cy="520000"/>
          </a:xfrm>
          <a:prstGeom prst="roundRect">
            <a:avLst/>
          </a:prstGeom>
          <a:solidFill>
            <a:srgbClr val="E8ECF8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428A0"/>
                </a:solidFill>
              </a:rPr>
              <a:t>Across all stages: session memory  ·  validated caches  ·  async runtime (priorities, deadlines, cancellation, backpressure, degraded modes)  ·  telemetry on every event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500"/>
              <a:t>Live web UI (streamrag serve):</a:t>
            </a:r>
            <a:endParaRPr/>
          </a:p>
          <a:p>
            <a:pPr lvl="1"/>
            <a:r>
              <a:rPr sz="1300"/>
              <a:t>the transcript grows word by word</a:t>
            </a:r>
          </a:p>
          <a:p>
            <a:pPr lvl="1"/>
            <a:r>
              <a:rPr sz="1300"/>
              <a:t>stage chips: Query → Retrieval → Evidence → Generating → Verifying → Final</a:t>
            </a:r>
          </a:p>
          <a:p>
            <a:pPr lvl="1"/>
            <a:r>
              <a:rPr sz="1300"/>
              <a:t>retrieval plan per need</a:t>
            </a:r>
          </a:p>
          <a:p>
            <a:pPr lvl="1"/>
            <a:r>
              <a:rPr sz="1300"/>
              <a:t>citation chips open the exact source section</a:t>
            </a:r>
          </a:p>
          <a:p>
            <a:pPr lvl="1"/>
            <a:r>
              <a:rPr sz="1300"/>
              <a:t>timing line: first evidence, first answer, verified answer</a:t>
            </a:r>
          </a:p>
          <a:p>
            <a:pPr/>
            <a:r>
              <a:rPr sz="1500"/>
              <a:t>10 scripted scenarios: A normal · B multi-intent · C1/C2 adaptive · D late correction · D2 speech-recognition revision · E citations · F1 conflicting sources · F2 versions · F3 not in the sources</a:t>
            </a:r>
          </a:p>
          <a:p>
            <a:pPr/>
            <a:r>
              <a:rPr sz="1500"/>
              <a:t>Automated check (streamrag demo-check): 10 / 10 with the local LLM and 10 / 10 without it (verified extractive fallback)</a:t>
            </a:r>
          </a:p>
          <a:p>
            <a:pPr/>
            <a:r>
              <a:rPr sz="1500"/>
              <a:t>One command: docker compose up (offline, no API keys); /health and /ready endpoints</a:t>
            </a:r>
          </a:p>
          <a:p>
            <a:pPr/>
            <a:r>
              <a:rPr sz="1500"/>
              <a:t>Demo video: link in the GitHub README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600"/>
              <a:t>Python 3.12: asyncio streaming runtime, pydantic contracts, YAML configuration</a:t>
            </a:r>
            <a:endParaRPr/>
          </a:p>
          <a:p>
            <a:pPr/>
            <a:r>
              <a:rPr sz="1600"/>
              <a:t>Retrieval: BM25 + bge-small-en-v1.5 embeddings (ONNX Runtime, CPU), reciprocal-rank fusion, exact in-memory search</a:t>
            </a:r>
          </a:p>
          <a:p>
            <a:pPr/>
            <a:r>
              <a:rPr sz="1600"/>
              <a:t>Generation: local qwen3:4b via Ollama (temperature 0, JSON-schema output); extractive fallback</a:t>
            </a:r>
          </a:p>
          <a:p>
            <a:pPr/>
            <a:r>
              <a:rPr sz="1600"/>
              <a:t>Verification: nli-deberta-v3-xsmall (ONNX) entailment plus rules; citations rebuilt from verification</a:t>
            </a:r>
          </a:p>
          <a:p>
            <a:pPr/>
            <a:r>
              <a:rPr sz="1600"/>
              <a:t>Serving: minimal HTTP/1.1 + Server-Sent Events, plain HTML/CSS/JS UI, Docker + docker compose</a:t>
            </a:r>
          </a:p>
          <a:p>
            <a:pPr/>
            <a:r>
              <a:rPr sz="1600"/>
              <a:t>Evaluation: own framework with paired McNemar / Wilcoxon tests and bootstrap CIs; pytest (665 tests)</a:t>
            </a:r>
          </a:p>
          <a:p>
            <a:pPr/>
            <a:r>
              <a:rPr sz="1600"/>
              <a:t>No cloud services and no API keys. No Samsung SDK, model or hardware was used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600"/>
              <a:t>Use case: voice assistants answering from manuals, warranties, service policies and rules, where users speak incrementally and correct themselves</a:t>
            </a:r>
            <a:endParaRPr/>
          </a:p>
          <a:p>
            <a:pPr/>
            <a:r>
              <a:rPr sz="1600"/>
              <a:t>Evidence about 0.26 s after the first word; verified answers with clickable sources</a:t>
            </a:r>
          </a:p>
          <a:p>
            <a:pPr/>
            <a:r>
              <a:rPr sz="1600"/>
              <a:t>No stale or invented values on the held-out test (baselines: up to 54% stale)</a:t>
            </a:r>
          </a:p>
          <a:p>
            <a:pPr/>
            <a:r>
              <a:rPr sz="1600"/>
              <a:t>Corrections are cheap: only the changed need is searched again, and cancellation saves 27% of compute</a:t>
            </a:r>
          </a:p>
          <a:p>
            <a:pPr/>
            <a:r>
              <a:rPr sz="1600"/>
              <a:t>Device / server split by design:</a:t>
            </a:r>
          </a:p>
          <a:p>
            <a:pPr lvl="1"/>
            <a:r>
              <a:rPr sz="1400"/>
              <a:t>the model-free front end (controller, decomposition, session state) can keep the raw transcript on the device</a:t>
            </a:r>
          </a:p>
          <a:p>
            <a:pPr lvl="1"/>
            <a:r>
              <a:rPr sz="1400"/>
              <a:t>corpus search, the LLM and verification run on a server</a:t>
            </a:r>
          </a:p>
          <a:p>
            <a:pPr lvl="1"/>
            <a:r>
              <a:rPr sz="1400"/>
              <a:t>on-device execution was not measured</a:t>
            </a:r>
          </a:p>
          <a:p>
            <a:pPr/>
            <a:r>
              <a:rPr sz="1600"/>
              <a:t>Privacy: in the documented deployments, nothing leaves the machine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300"/>
              <a:t>Innovation: need-level incremental state with control of early-commitment errors; claim-driven adaptive retrieval without an LLM; verification of every streamed claim</a:t>
            </a:r>
            <a:endParaRPr/>
          </a:p>
          <a:p>
            <a:pPr/>
            <a:r>
              <a:rPr sz="1300"/>
              <a:t>Limitations: not more accurate than strong baselines; lower recall; weak on follow-ups in a new domain; fictional test data (official corpus not provided)</a:t>
            </a:r>
          </a:p>
        </p:txBody>
      </p:sp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838200" y="3250000"/>
          <a:ext cx="10515600" cy="2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5600"/>
                <a:gridCol w="2000000"/>
                <a:gridCol w="2000000"/>
                <a:gridCol w="2000000"/>
              </a:tblGrid>
              <a:tr h="414285">
                <a:tc>
                  <a:txBody>
                    <a:bodyPr/>
                    <a:lstStyle/>
                    <a:p>
                      <a:r>
                        <a:rPr sz="1300" b="1"/>
                        <a:t>Held-out test (81 turns, frozen before final changes)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Full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Naive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Hybrid + rerank</a:t>
                      </a:r>
                    </a:p>
                  </a:txBody>
                  <a:tcPr/>
                </a:tc>
              </a:tr>
              <a:tr h="414285">
                <a:tc>
                  <a:txBody>
                    <a:bodyPr/>
                    <a:lstStyle/>
                    <a:p>
                      <a:r>
                        <a:rPr sz="1300" b="0"/>
                        <a:t>First evidence / first answer content (p50)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0.26 / 0.27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after user stops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after user stops</a:t>
                      </a:r>
                    </a:p>
                  </a:txBody>
                  <a:tcPr/>
                </a:tc>
              </a:tr>
              <a:tr h="414285">
                <a:tc>
                  <a:txBody>
                    <a:bodyPr/>
                    <a:lstStyle/>
                    <a:p>
                      <a:r>
                        <a:rPr sz="1300" b="0"/>
                        <a:t>Stale values asserted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0 /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 /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 / 13</a:t>
                      </a:r>
                    </a:p>
                  </a:txBody>
                  <a:tcPr/>
                </a:tc>
              </a:tr>
              <a:tr h="414285">
                <a:tc>
                  <a:txBody>
                    <a:bodyPr/>
                    <a:lstStyle/>
                    <a:p>
                      <a:r>
                        <a:rPr sz="1300" b="0"/>
                        <a:t>Hallucinated-value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6.2%</a:t>
                      </a:r>
                    </a:p>
                  </a:txBody>
                  <a:tcPr/>
                </a:tc>
              </a:tr>
              <a:tr h="414285">
                <a:tc>
                  <a:txBody>
                    <a:bodyPr/>
                    <a:lstStyle/>
                    <a:p>
                      <a:r>
                        <a:rPr sz="1300" b="0"/>
                        <a:t>Evidence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0.24</a:t>
                      </a:r>
                    </a:p>
                  </a:txBody>
                  <a:tcPr/>
                </a:tc>
              </a:tr>
              <a:tr h="414285">
                <a:tc>
                  <a:txBody>
                    <a:bodyPr/>
                    <a:lstStyle/>
                    <a:p>
                      <a:r>
                        <a:rPr sz="1300" b="0"/>
                        <a:t>Answer correctness (differences n.s.)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0.80</a:t>
                      </a:r>
                    </a:p>
                  </a:txBody>
                  <a:tcPr/>
                </a:tc>
              </a:tr>
              <a:tr h="414290">
                <a:tc>
                  <a:txBody>
                    <a:bodyPr/>
                    <a:lstStyle/>
                    <a:p>
                      <a:r>
                        <a:rPr sz="1300" b="0"/>
                        <a:t>Verified answer after the user stops (p50)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1.64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1.41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1.49 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2000"/>
              <a:t>Run the frozen benchmark protocol on the official Theme 4 corpus</a:t>
            </a:r>
            <a:endParaRPr/>
          </a:p>
          <a:p>
            <a:pPr/>
            <a:r>
              <a:rPr sz="2000"/>
              <a:t>Feed real speech-recognition output, with its errors and revisions</a:t>
            </a:r>
          </a:p>
          <a:p>
            <a:pPr/>
            <a:r>
              <a:rPr sz="2000"/>
              <a:t>Add a small learned rewriter for elliptical follow-ups and entity corrections (the main weakness)</a:t>
            </a:r>
          </a:p>
          <a:p>
            <a:pPr/>
            <a:r>
              <a:rPr sz="2000"/>
              <a:t>Add a calibrated "not in the sources" detector</a:t>
            </a:r>
          </a:p>
          <a:p>
            <a:pPr/>
            <a:r>
              <a:rPr sz="2000"/>
              <a:t>Re-tune the reranker and adaptive k on a fresh held-out set</a:t>
            </a:r>
          </a:p>
          <a:p>
            <a:pPr/>
            <a:r>
              <a:rPr sz="2000"/>
              <a:t>Measure the model-free front end on a phone-class device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500"/>
              <a:t>Honest evaluation:</a:t>
            </a:r>
            <a:endParaRPr/>
          </a:p>
          <a:p>
            <a:pPr lvl="1"/>
            <a:r>
              <a:rPr sz="1300"/>
              <a:t>held-out set written and hash-frozen before the final changes, and run once</a:t>
            </a:r>
          </a:p>
          <a:p>
            <a:pPr lvl="1"/>
            <a:r>
              <a:rPr sz="1300"/>
              <a:t>12 systems with paired statistics; negative results reported</a:t>
            </a:r>
          </a:p>
          <a:p>
            <a:pPr/>
            <a:r>
              <a:rPr sz="1500"/>
              <a:t>Robustness: 8 fault types × 10 runs, all recovered (LLM timeout, index failure, verifier failure…); degraded modes are shown to the user</a:t>
            </a:r>
          </a:p>
          <a:p>
            <a:pPr/>
            <a:r>
              <a:rPr sz="1500"/>
              <a:t>Explainable: retrieval plans, evidence, context changes and cancelled work are visible live</a:t>
            </a:r>
          </a:p>
          <a:p>
            <a:pPr/>
            <a:r>
              <a:rPr sz="1500"/>
              <a:t>Theme gates measured:</a:t>
            </a:r>
          </a:p>
          <a:p>
            <a:pPr lvl="1"/>
            <a:r>
              <a:rPr sz="1300"/>
              <a:t>early retrieval on 98.7% of eligible turns</a:t>
            </a:r>
          </a:p>
          <a:p>
            <a:pPr lvl="1"/>
            <a:r>
              <a:rPr sz="1300"/>
              <a:t>telemetry 100%</a:t>
            </a:r>
          </a:p>
          <a:p>
            <a:pPr lvl="1"/>
            <a:r>
              <a:rPr sz="1300"/>
              <a:t>0 of 173 citations point to non-existent sources</a:t>
            </a:r>
          </a:p>
          <a:p>
            <a:pPr/>
            <a:r>
              <a:rPr sz="1500"/>
              <a:t>Engineering: one-command Docker, /health and /ready, 665 tests, deterministic replay of every trace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2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GitHub repo: Y (github.com/RockRK2405/StreamRAG, tag PRISM_GENAI_HACKATHON_Y2026)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2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instructions: Y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2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minutes: link in the README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2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PDF): Y (presentation/ folder)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